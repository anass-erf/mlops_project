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98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Présenter le titre, le contexte universitaire et l’idée générale : prédire un proxy de stress hydrique du blé à partir de données météorologiques historiques, avec une chaîne MLOps/DataOps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différence entre prédire demain et prédire un mois ou un an. Le lendemain est plus fiable et opérationnel.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contrat d’entrée-sortie : crop, site_id, history de 30 jours. Sortie : score, niveau, date de prévision, version du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slide pour dire qui parle quand. Remplacer les numéros par les vrais noms si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pourquoi trois sites marocains : diversité climatique et périmètre contrôlé pour une première version reproductible.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répond directement au schéma demandé par le professeur. Insister : DataOps est ajouté de manière sûre, sans détruire le pipeline qui fonctionnait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ingestion.json et dire : raw table, 10 407 observations, trois snapshots avec SHA-256.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dbt ne remplace pas Python ML. Il prépare les données, vérifie la forme et donne une lineage claire.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Dagster si possible. Montrer Assets/Runs et expliquer les dépendances : ingestion, dbt, qualité, features, training,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rapidement : EDA montre distributions, corrélations, séries temporelles et relations avec le proxy. Insister sur training-only plots et pas de fuite temporelle.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modèles : dummy_mean, ridge, random forest, gradient boosting. Expliquer RMSE/MAE/R².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cacher que la persistance a de meilleurs scores ; expliquer pourquoi : elle utilise la continuité immédiate du proxy et a un avantage informationnel.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MLflow dans la démo. Montrer l’expérience crop-water-stress-wheat, les runs et les métriques.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une démonstration rapide Swagger : /health puis /predict ou montrer la validation 422 si temps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Streamlit ne charge pas le modèle. Il construit le JSON puis appelle FastAPI. Montrer Load Example puis Automatic Weather.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Komodo : services RUNNING. Expliquer que si l’accès externe est bloqué, cela dépend de la politique réseau, pas forcément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S’il n’y a pas de vrai onglet Actions visible, dire honnêtement que les workflows existent et montrer les fichiers 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monitoring/historical_report.html et live/simulated si disponibles. Bien distinguer drift et performance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scientifique. Ne pas cacher la limite du proxy ; la présenter comme une force méthodologique.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sert de check-list de soutenance. Les onglets doivent être ouverts avant le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Préparer des réponses aux questions : pourquoi J+1, pourquoi 3 sites, pourquoi proxy, pourquoi persistance meilleure, différence FastAPI/Streamlit/MLflow/Docker/Komodo.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composite_scene_a_high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7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pic>
        <p:nvPicPr>
          <p:cNvPr id="4" name="Image 1" descr="/mnt/dat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928" y="1417320"/>
            <a:ext cx="5577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Prédiction du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hydrique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cultures</a:t>
            </a:r>
            <a:endParaRPr lang="en-US" sz="4300" dirty="0"/>
          </a:p>
        </p:txBody>
      </p:sp>
      <p:sp>
        <p:nvSpPr>
          <p:cNvPr id="6" name="Text 2"/>
          <p:cNvSpPr/>
          <p:nvPr/>
        </p:nvSpPr>
        <p:spPr>
          <a:xfrm>
            <a:off x="621792" y="34015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Conception et déploiement d’un pipeline DataOps/MLOps pour le blé au Maroc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40080" y="40050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" y="407365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MLOps &amp; DataOps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2221992" y="400507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0C781"/>
          </a:solidFill>
          <a:ln w="12700">
            <a:solidFill>
              <a:srgbClr val="00C781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331720" y="4073652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NASA POWER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611880" y="400507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0050"/>
          </a:solidFill>
          <a:ln w="12700">
            <a:solidFill>
              <a:srgbClr val="FF0050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21608" y="4073652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</a:rPr>
              <a:t>MLflow · FastAPI · Docker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40080" y="56692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Master d’Intelligence Artificielle · Faculté des Sciences Ben M’Sik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Encadré par Pr. Mohammed AIT DAOUD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961120" y="5715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FAFC"/>
                </a:solidFill>
              </a:rPr>
              <a:t>Équipe : 7 étudiants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01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composite_scene_a_high_batch_1.png"/>
          <p:cNvPicPr>
            <a:picLocks noChangeAspect="1"/>
          </p:cNvPicPr>
          <p:nvPr/>
        </p:nvPicPr>
        <p:blipFill>
          <a:blip r:embed="rId3"/>
          <a:srcRect l="26239" r="26239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B1220">
              <a:alpha val="70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pic>
        <p:nvPicPr>
          <p:cNvPr id="4" name="Image 1" descr="/mnt/dat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Problématique : anticiper le stress hydrique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Pourquoi la prévision opérationnelle peut aider à prioriser la surveillance et l’irrigation</a:t>
            </a:r>
            <a:endParaRPr lang="en-US" sz="830" dirty="0"/>
          </a:p>
        </p:txBody>
      </p:sp>
      <p:sp>
        <p:nvSpPr>
          <p:cNvPr id="8" name="Text 4"/>
          <p:cNvSpPr/>
          <p:nvPr/>
        </p:nvSpPr>
        <p:spPr>
          <a:xfrm>
            <a:off x="59436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Le besoin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40080" y="2267712"/>
            <a:ext cx="4937760" cy="0"/>
          </a:xfrm>
          <a:prstGeom prst="line">
            <a:avLst/>
          </a:prstGeom>
          <a:noFill/>
          <a:ln w="25400">
            <a:solidFill>
              <a:srgbClr val="00C78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2487168"/>
            <a:ext cx="51206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C781"/>
                </a:solidFill>
              </a:rPr>
              <a:t>• </a:t>
            </a:r>
            <a:r>
              <a:rPr lang="en-US" sz="1200" dirty="0">
                <a:solidFill>
                  <a:srgbClr val="CBD5E1"/>
                </a:solidFill>
              </a:rPr>
              <a:t>Le stress hydrique dépend de la chaleur, de l’humidité, de la pluie, du rayonnement et du vent.
</a:t>
            </a:r>
            <a:r>
              <a:rPr lang="en-US" sz="1200" b="1" dirty="0">
                <a:solidFill>
                  <a:srgbClr val="00C781"/>
                </a:solidFill>
              </a:rPr>
              <a:t>• </a:t>
            </a:r>
            <a:r>
              <a:rPr lang="en-US" sz="1200" dirty="0">
                <a:solidFill>
                  <a:srgbClr val="CBD5E1"/>
                </a:solidFill>
              </a:rPr>
              <a:t>Les décisions agricoles se prennent souvent à court terme : demain, cette semaine, pendant la saison.
</a:t>
            </a:r>
            <a:r>
              <a:rPr lang="en-US" sz="1200" b="1" dirty="0">
                <a:solidFill>
                  <a:srgbClr val="00C781"/>
                </a:solidFill>
              </a:rPr>
              <a:t>• </a:t>
            </a:r>
            <a:r>
              <a:rPr lang="en-US" sz="1200" dirty="0">
                <a:solidFill>
                  <a:srgbClr val="CBD5E1"/>
                </a:solidFill>
              </a:rPr>
              <a:t>Le projet vise une prédiction J+1, traçable et reproductible, plutôt qu’un simple notebook isolé.
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58368" y="425196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121F31"/>
          </a:solidFill>
          <a:ln w="12700">
            <a:solidFill>
              <a:srgbClr val="31435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44622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8799"/>
                </a:solidFill>
              </a:rPr>
              <a:t>Question métier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68680" y="4709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À partir des 30 derniers jours météo, quel sera le niveau de stress hydrique du blé demain 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03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de prédiction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Une fenêtre historique de 30 jours pour prédire le stress du lendemain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685800" y="20574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2157984"/>
            <a:ext cx="1271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30 jours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météo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176272" y="2468880"/>
            <a:ext cx="704088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971800" y="20574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4952" y="2157984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temporelles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2468880"/>
            <a:ext cx="731520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40680" y="20574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3832" y="2157984"/>
            <a:ext cx="1362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Modèle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régression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40880" y="2468880"/>
            <a:ext cx="731520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863840" y="20574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DDAF4B"/>
          </a:solidFill>
          <a:ln w="12700">
            <a:solidFill>
              <a:srgbClr val="DDAF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36992" y="2157984"/>
            <a:ext cx="1453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Stress J+1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proxy 0–1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555480" y="2468880"/>
            <a:ext cx="731520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0378440" y="205740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94E6D"/>
          </a:solidFill>
          <a:ln w="12700">
            <a:solidFill>
              <a:srgbClr val="F94E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51592" y="2157984"/>
            <a:ext cx="1179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Niveau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Low/Med/High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51560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C7FA"/>
                </a:solidFill>
              </a:rPr>
              <a:t>30 jours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1051560" y="4306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historique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65760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J+1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3657600" y="4306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horizon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60720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0050"/>
                </a:solidFill>
              </a:rPr>
              <a:t>1-Ks proxy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5760720" y="4306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cible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82396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0.869 HIGH</a:t>
            </a:r>
            <a:endParaRPr lang="en-US" sz="2300" dirty="0"/>
          </a:p>
        </p:txBody>
      </p:sp>
      <p:sp>
        <p:nvSpPr>
          <p:cNvPr id="27" name="Text 24"/>
          <p:cNvSpPr/>
          <p:nvPr/>
        </p:nvSpPr>
        <p:spPr>
          <a:xfrm>
            <a:off x="8823960" y="4306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exemple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5156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Important : la cible est un proxy modélisé, pas une mesure directe de terrain. Le modèle prédit l’accord avec cette définition scientifique, non une vérité terrain mesurée.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04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 l’équipe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7 membres, 7 responsabilités reliées par un seul pipeline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01D2F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691640"/>
            <a:ext cx="438912" cy="438912"/>
          </a:xfrm>
          <a:prstGeom prst="ellipse">
            <a:avLst/>
          </a:prstGeom>
          <a:solidFill>
            <a:srgbClr val="1F5A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755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6187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Problème &amp; données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objectif, sites, proxy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8328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F1B2D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691640"/>
            <a:ext cx="438912" cy="438912"/>
          </a:xfrm>
          <a:prstGeom prst="ellipse">
            <a:avLst/>
          </a:prstGeom>
          <a:solidFill>
            <a:srgbClr val="00C7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7872" y="1755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09651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DataOps ingestion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96512" y="21031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dlt + DuckDB + snapshots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01D2F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82512" y="1691640"/>
            <a:ext cx="438912" cy="438912"/>
          </a:xfrm>
          <a:prstGeom prst="ellipse">
            <a:avLst/>
          </a:prstGeom>
          <a:solidFill>
            <a:srgbClr val="FF00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1755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3115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Qualité &amp; orchestration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31152" y="21031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dbt, contract, Dagster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05256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F1B2D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17152" y="1691640"/>
            <a:ext cx="438912" cy="438912"/>
          </a:xfrm>
          <a:prstGeom prst="ellipse">
            <a:avLst/>
          </a:prstGeom>
          <a:solidFill>
            <a:srgbClr val="28C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17152" y="1755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76579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65792" y="21031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features, modèles, métriques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" y="3429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01D2F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" y="3611880"/>
            <a:ext cx="438912" cy="438912"/>
          </a:xfrm>
          <a:prstGeom prst="ellipse">
            <a:avLst/>
          </a:prstGeom>
          <a:solidFill>
            <a:srgbClr val="DDAF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261872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MLOps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61872" y="40233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MLflow, registry, versionnement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383280" y="3429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0F1B2D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47872" y="3611880"/>
            <a:ext cx="438912" cy="438912"/>
          </a:xfrm>
          <a:prstGeom prst="ellipse">
            <a:avLst/>
          </a:prstGeom>
          <a:solidFill>
            <a:srgbClr val="F94E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47872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096512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Serving &amp; déploiement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096512" y="40233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FastAPI, Streamlit, Docker, Komodo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17920" y="3429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01D2F"/>
          </a:solidFill>
          <a:ln w="12700">
            <a:solidFill>
              <a:srgbClr val="2A3A5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82512" y="3611880"/>
            <a:ext cx="438912" cy="438912"/>
          </a:xfrm>
          <a:prstGeom prst="ellipse">
            <a:avLst/>
          </a:prstGeom>
          <a:solidFill>
            <a:srgbClr val="B7F7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82512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</a:rPr>
              <a:t>7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931152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CI/CD &amp; monitoring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931152" y="40233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GitHub Actions, drift, limites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05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et périmètre expérimental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Données météo réelles, contexte agronomique contrôlé et snapshots vérifiés</a:t>
            </a:r>
            <a:endParaRPr lang="en-US" sz="830" dirty="0"/>
          </a:p>
        </p:txBody>
      </p:sp>
      <p:pic>
        <p:nvPicPr>
          <p:cNvPr id="6" name="Image 1" descr="/mnt/data/wide_cinematic_futuristic_composite_scene_a_high_batch_1.png"/>
          <p:cNvPicPr>
            <a:picLocks noChangeAspect="1"/>
          </p:cNvPicPr>
          <p:nvPr/>
        </p:nvPicPr>
        <p:blipFill>
          <a:blip r:embed="rId4"/>
          <a:srcRect l="18009" r="18009"/>
          <a:stretch/>
        </p:blipFill>
        <p:spPr>
          <a:xfrm>
            <a:off x="6766560" y="1143000"/>
            <a:ext cx="4937760" cy="4343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6560" y="1143000"/>
            <a:ext cx="4937760" cy="4343400"/>
          </a:xfrm>
          <a:prstGeom prst="rect">
            <a:avLst/>
          </a:prstGeom>
          <a:solidFill>
            <a:srgbClr val="0B1220">
              <a:alpha val="58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10 407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13232" y="2112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observations météo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2907792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C7FA"/>
                </a:solidFill>
              </a:rPr>
              <a:t>3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2907792" y="2112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sites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61772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2015–2024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4617720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période projet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85800" y="278892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0E1A2C"/>
          </a:solidFill>
          <a:ln w="12700">
            <a:solidFill>
              <a:srgbClr val="2F40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3035808"/>
            <a:ext cx="5212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0C781"/>
                </a:solidFill>
              </a:rPr>
              <a:t>• </a:t>
            </a:r>
            <a:r>
              <a:rPr lang="en-US" sz="1120" dirty="0">
                <a:solidFill>
                  <a:srgbClr val="CBD5E1"/>
                </a:solidFill>
              </a:rPr>
              <a:t>Sites : Marrakech, Meknès, Settat.
</a:t>
            </a:r>
            <a:r>
              <a:rPr lang="en-US" sz="1120" b="1" dirty="0">
                <a:solidFill>
                  <a:srgbClr val="00C781"/>
                </a:solidFill>
              </a:rPr>
              <a:t>• </a:t>
            </a:r>
            <a:r>
              <a:rPr lang="en-US" sz="1120" dirty="0">
                <a:solidFill>
                  <a:srgbClr val="CBD5E1"/>
                </a:solidFill>
              </a:rPr>
              <a:t>Culture : blé pluvial, saison configurée.
</a:t>
            </a:r>
            <a:r>
              <a:rPr lang="en-US" sz="1120" b="1" dirty="0">
                <a:solidFill>
                  <a:srgbClr val="00C781"/>
                </a:solidFill>
              </a:rPr>
              <a:t>• </a:t>
            </a:r>
            <a:r>
              <a:rPr lang="en-US" sz="1120" dirty="0">
                <a:solidFill>
                  <a:srgbClr val="CBD5E1"/>
                </a:solidFill>
              </a:rPr>
              <a:t>Variables : température, humidité, pluie, rayonnement solaire, vent.
</a:t>
            </a:r>
            <a:r>
              <a:rPr lang="en-US" sz="1120" b="1" dirty="0">
                <a:solidFill>
                  <a:srgbClr val="00C781"/>
                </a:solidFill>
              </a:rPr>
              <a:t>• </a:t>
            </a:r>
            <a:r>
              <a:rPr lang="en-US" sz="1120" dirty="0">
                <a:solidFill>
                  <a:srgbClr val="CBD5E1"/>
                </a:solidFill>
              </a:rPr>
              <a:t>Snapshots NASA POWER conservés avec manifestes et hash SHA-256.
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685800" y="507492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161B2C"/>
          </a:solidFill>
          <a:ln w="12700">
            <a:solidFill>
              <a:srgbClr val="44354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6112" y="528523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94E6D"/>
                </a:solidFill>
              </a:rPr>
              <a:t>Limite scientifique : la cible de stress est modélisée ; la validation terrain reste nécessaire avant tout usage agricole réel.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06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DataOps exigé et implémenté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dlt, DuckDB, dbt, Data Contract et Dagster reliés au pipeline ML existant</a:t>
            </a:r>
            <a:endParaRPr lang="en-US" sz="830" dirty="0"/>
          </a:p>
        </p:txBody>
      </p:sp>
      <p:pic>
        <p:nvPicPr>
          <p:cNvPr id="6" name="Image 1" descr="/mnt/data/a_wide_isometric_infographic_illustration_scene_of_batch_2.png"/>
          <p:cNvPicPr>
            <a:picLocks noChangeAspect="1"/>
          </p:cNvPicPr>
          <p:nvPr/>
        </p:nvPicPr>
        <p:blipFill>
          <a:blip r:embed="rId4"/>
          <a:srcRect t="31061" b="31061"/>
          <a:stretch/>
        </p:blipFill>
        <p:spPr>
          <a:xfrm>
            <a:off x="182880" y="1444752"/>
            <a:ext cx="11795760" cy="2514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1444752"/>
            <a:ext cx="11795760" cy="2514600"/>
          </a:xfrm>
          <a:prstGeom prst="rect">
            <a:avLst/>
          </a:prstGeom>
          <a:solidFill>
            <a:srgbClr val="0B1220">
              <a:alpha val="5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2920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Sources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NASA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764792" y="4855464"/>
            <a:ext cx="31089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130552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03704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ingestion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92424" y="4855464"/>
            <a:ext cx="31089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758184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DDAF4B"/>
          </a:solidFill>
          <a:ln w="12700">
            <a:solidFill>
              <a:srgbClr val="DDAF4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31336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DuckDB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raw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0056" y="4855464"/>
            <a:ext cx="31089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385816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28C7FA"/>
          </a:solidFill>
          <a:ln w="12700">
            <a:solidFill>
              <a:srgbClr val="28C7F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58968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dbt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staging/mart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647688" y="4855464"/>
            <a:ext cx="31089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013448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86600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Qualité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contract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275320" y="4855464"/>
            <a:ext cx="31089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641080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94E6D"/>
          </a:solidFill>
          <a:ln w="12700">
            <a:solidFill>
              <a:srgbClr val="F94E6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14232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Dagster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orchestration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9902952" y="4855464"/>
            <a:ext cx="31089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10268712" y="4572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B7F76E"/>
          </a:solidFill>
          <a:ln w="12700">
            <a:solidFill>
              <a:srgbClr val="B7F76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341864" y="4672584"/>
            <a:ext cx="1088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features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13232" y="56692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Couche  parallèle et additive. Elle ne modifie pas la cible et ne promeut pas automatiquement un modèle.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07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Ingestion automatisée : dlt → DuckDB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Les snapshots NASA deviennent une table analytique traçable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777240" y="187452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975104"/>
            <a:ext cx="1545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Snapshots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NASA POWER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42032" y="2240280"/>
            <a:ext cx="841248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74720" y="18745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1975104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normalisation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138928" y="2240280"/>
            <a:ext cx="804672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035040" y="1874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DDAF4B"/>
          </a:solidFill>
          <a:ln w="12700">
            <a:solidFill>
              <a:srgbClr val="DDAF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975104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DuckDB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raw.raw_weather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65008" y="2240280"/>
            <a:ext cx="804672" cy="0"/>
          </a:xfrm>
          <a:prstGeom prst="line">
            <a:avLst/>
          </a:prstGeom>
          <a:noFill/>
          <a:ln w="19050">
            <a:solidFill>
              <a:srgbClr val="28C7FA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961120" y="187452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34272" y="1975104"/>
            <a:ext cx="2093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Provenance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manifestes/hash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601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10 407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60120" y="4078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lignes chargées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3756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raw.raw_weather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3337560" y="4078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table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064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C7FA"/>
                </a:solidFill>
              </a:rPr>
              <a:t>3 sites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5806440" y="4078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snapshots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36676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0050"/>
                </a:solidFill>
              </a:rPr>
              <a:t>exacte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8366760" y="4078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équivalence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507492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0E1D2A"/>
          </a:solidFill>
          <a:ln w="12700">
            <a:solidFill>
              <a:srgbClr val="2A4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533095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Choix technique : DuckDB est local, léger et adapté à un projet pédagogique DataOps ; dlt rend l’ingestion répétable et observable.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08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" y="7817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Transformation et qualité : dbt + Data Contract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238833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Les données sont typées, testées et exportées vers le pipeline ML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548640" y="1563624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8C7FA"/>
                </a:solidFill>
              </a:rPr>
              <a:t>dbt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2976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Modèle staging : `stg_weather`.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Mart ML : `ml_weather`.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Aucune imputation ou feature temporelle complexe dans dbt.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Lineage SQL : source → staging → mart → tests.
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4855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modèles dbt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212848" y="4434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35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2212848" y="4855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tests SQL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1188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0050"/>
                </a:solidFill>
              </a:rPr>
              <a:t>passed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3611880" y="4855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status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20379" y="1549640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101D2F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C781"/>
                </a:solidFill>
              </a:rPr>
              <a:t>Data Contract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989320" y="2240280"/>
            <a:ext cx="5120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Colonnes obligatoires et types attendus.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Unicité site/date et dates complètes.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Sites acceptés : Marrakech, Meknès, Settat.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Règles métier : humidité, précipitation, cohérence min/moy/max.
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989320" y="48646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Le contrat protège le modèle contre des entrées incohérentes ou non conformes au scénario d’apprentissage.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09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 : Dagster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Un graphe visible pour exécuter et auditer le pipeline DataOps/MLOps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68580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97510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ingest_weather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39112" y="2176272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0604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28C7FA"/>
          </a:solidFill>
          <a:ln w="12700">
            <a:solidFill>
              <a:srgbClr val="28C7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97510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dbt_transform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59352" y="2176272"/>
            <a:ext cx="5486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7200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197510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quality_contract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25312" y="2176272"/>
            <a:ext cx="7315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72084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DDAF4B"/>
          </a:solidFill>
          <a:ln w="12700">
            <a:solidFill>
              <a:srgbClr val="DDAF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93992" y="197510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build_features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74152" y="2176272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54964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22792" y="197510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train_model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902952" y="2176272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014984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94E6D"/>
          </a:solidFill>
          <a:ln w="12700">
            <a:solidFill>
              <a:srgbClr val="F94E6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22992" y="1975104"/>
            <a:ext cx="11795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evaluate_model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14400" y="35204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D1A29"/>
          </a:solidFill>
          <a:ln w="12700">
            <a:solidFill>
              <a:srgbClr val="30496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3767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7FA"/>
                </a:solidFill>
              </a:rPr>
              <a:t>Sécurité de démonstration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8872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BD5E1"/>
                </a:solidFill>
              </a:rPr>
              <a:t>Dagster exécute les étapes, mais la promotion production reste manuelle.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446520" y="35204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D1A29"/>
          </a:solidFill>
          <a:ln w="12700">
            <a:solidFill>
              <a:srgbClr val="30496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20840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781"/>
                </a:solidFill>
              </a:rPr>
              <a:t>Commande de démonstration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20840" y="40233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make dataops-demo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make dagster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10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Exploration et feature engineering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Comprendre les variables avant d’entraîner le modèle</a:t>
            </a:r>
            <a:endParaRPr lang="en-US" sz="830" dirty="0"/>
          </a:p>
        </p:txBody>
      </p:sp>
      <p:pic>
        <p:nvPicPr>
          <p:cNvPr id="6" name="Image 1" descr="/mnt/data/proj/MLOPS_Project-main/artifacts/eda/time_se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0" y="1417320"/>
            <a:ext cx="3223260" cy="2148840"/>
          </a:xfrm>
          <a:prstGeom prst="rect">
            <a:avLst/>
          </a:prstGeom>
        </p:spPr>
      </p:pic>
      <p:pic>
        <p:nvPicPr>
          <p:cNvPr id="7" name="Image 2" descr="/mnt/data/proj/MLOPS_Project-main/artifacts/eda/corre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417320"/>
            <a:ext cx="2578608" cy="2148840"/>
          </a:xfrm>
          <a:prstGeom prst="rect">
            <a:avLst/>
          </a:prstGeom>
        </p:spPr>
      </p:pic>
      <p:pic>
        <p:nvPicPr>
          <p:cNvPr id="8" name="Image 3" descr="/mnt/data/proj/MLOPS_Project-main/artifacts/eda/distribu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011" y="3931920"/>
            <a:ext cx="3370217" cy="1965960"/>
          </a:xfrm>
          <a:prstGeom prst="rect">
            <a:avLst/>
          </a:prstGeom>
        </p:spPr>
      </p:pic>
      <p:pic>
        <p:nvPicPr>
          <p:cNvPr id="9" name="Image 4" descr="/mnt/data/proj/MLOPS_Project-main/artifacts/eda/relationshi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061460"/>
            <a:ext cx="5120640" cy="170688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005840" y="6181344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</a:rPr>
              <a:t>Features causales : cumul pluie, moyennes mobiles, tendances météo, scénario sol/culture — sans fuite future.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11</a:t>
            </a:r>
            <a:endParaRPr lang="en-US" sz="700" dirty="0"/>
          </a:p>
        </p:txBody>
      </p:sp>
      <p:sp>
        <p:nvSpPr>
          <p:cNvPr id="12" name="Shape 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Modélisation ML : régression chronologique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Comparer un baseline, des modèles simples et un modèle sélectionné</a:t>
            </a:r>
            <a:endParaRPr lang="en-US" sz="830" dirty="0"/>
          </a:p>
        </p:txBody>
      </p:sp>
      <p:pic>
        <p:nvPicPr>
          <p:cNvPr id="6" name="Image 1" descr="/mnt/data/proj/MLOPS_Project-main/artifacts/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84663"/>
            <a:ext cx="4754880" cy="27170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1353312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80760" y="1719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Gradient Boosting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080760" y="21396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modèle retenu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235440" y="17190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C7FA"/>
                </a:solidFill>
              </a:rPr>
              <a:t>0.1706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923544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Validation RMSE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080760" y="2852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0.1288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08076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Validation MAE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028432" y="2852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0050"/>
                </a:solidFill>
              </a:rPr>
              <a:t>0.6178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8028432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Validation R²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31520" y="4709160"/>
            <a:ext cx="10561320" cy="896112"/>
          </a:xfrm>
          <a:prstGeom prst="roundRect">
            <a:avLst>
              <a:gd name="adj" fmla="val 8163"/>
            </a:avLst>
          </a:prstGeom>
          <a:solidFill>
            <a:srgbClr val="131D2F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60120" y="504748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</a:rPr>
              <a:t>Décision clé : split chronologique — on entraîne sur le passé et on valide/teste sur le futur. Le split aléatoire risquerait de surestimer la performance.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12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sur le jeu de test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Performance du modèle choisi et lecture prudente du comparateur de persistance</a:t>
            </a:r>
            <a:endParaRPr lang="en-US" sz="830" dirty="0"/>
          </a:p>
        </p:txBody>
      </p:sp>
      <p:pic>
        <p:nvPicPr>
          <p:cNvPr id="6" name="Image 1" descr="/mnt/data/proj/MLOPS_Project-main/artifacts/evaluation/v4-2771746c21f7/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1536192"/>
            <a:ext cx="3257550" cy="2606040"/>
          </a:xfrm>
          <a:prstGeom prst="rect">
            <a:avLst/>
          </a:prstGeom>
        </p:spPr>
      </p:pic>
      <p:pic>
        <p:nvPicPr>
          <p:cNvPr id="7" name="Image 2" descr="/mnt/data/proj/MLOPS_Project-main/artifacts/evaluation/v4-2771746c21f7/residu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46336"/>
            <a:ext cx="3749040" cy="2385753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641080" y="141732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942832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C7FA"/>
                </a:solidFill>
              </a:rPr>
              <a:t>1 074</a:t>
            </a:r>
            <a:endParaRPr lang="en-US" sz="2300" dirty="0"/>
          </a:p>
        </p:txBody>
      </p:sp>
      <p:sp>
        <p:nvSpPr>
          <p:cNvPr id="10" name="Text 5"/>
          <p:cNvSpPr/>
          <p:nvPr/>
        </p:nvSpPr>
        <p:spPr>
          <a:xfrm>
            <a:off x="8942832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test rows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1005840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0.1402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005840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MAE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942832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0.1886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8942832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RMSE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00584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0050"/>
                </a:solidFill>
              </a:rPr>
              <a:t>0.6251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10058400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R²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22960" y="4846320"/>
            <a:ext cx="10469880" cy="822960"/>
          </a:xfrm>
          <a:prstGeom prst="roundRect">
            <a:avLst>
              <a:gd name="adj" fmla="val 8889"/>
            </a:avLst>
          </a:prstGeom>
          <a:solidFill>
            <a:srgbClr val="231322"/>
          </a:solidFill>
          <a:ln w="12700">
            <a:solidFill>
              <a:srgbClr val="6B2C4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51560" y="5138928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CBD5E1"/>
                </a:solidFill>
              </a:rPr>
              <a:t>les métriques mesurent l’accord avec le proxy modélisé. Le comparateur de persistance est très fort car il dispose d’un avantage d’information.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13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MLflow : suivi des expériences et versionnement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Passer d’un essai de modèle à un cycle de vie auditable</a:t>
            </a:r>
            <a:endParaRPr lang="en-US" sz="830" dirty="0"/>
          </a:p>
        </p:txBody>
      </p:sp>
      <p:pic>
        <p:nvPicPr>
          <p:cNvPr id="6" name="Image 1" descr="/mnt/data/projv2/project/screenshots/Screenshot from 2026-09-08 19-21-52.png"/>
          <p:cNvPicPr>
            <a:picLocks noChangeAspect="1"/>
          </p:cNvPicPr>
          <p:nvPr/>
        </p:nvPicPr>
        <p:blipFill>
          <a:blip r:embed="rId4"/>
          <a:srcRect l="6254" r="6254"/>
          <a:stretch/>
        </p:blipFill>
        <p:spPr>
          <a:xfrm>
            <a:off x="594360" y="1508760"/>
            <a:ext cx="6583680" cy="3886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06640" y="1298448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26680" y="1627632"/>
            <a:ext cx="35661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Runs avec paramètres, métriques et artefacts.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Comparaison des modèles de validation.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Sélection du meilleur candidat.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Version production : v4-2771746c21f7.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API découplée de MLflow en production.
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818120" y="40690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91272" y="416966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Experiment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979408" y="4297680"/>
            <a:ext cx="39319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9464040" y="40690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537192" y="416966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Candidate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0625328" y="4297680"/>
            <a:ext cx="34747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11018520" y="406908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091672" y="416966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Prod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14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ML : FastAPI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Une API claire, documentée et validée par Pydantic</a:t>
            </a:r>
            <a:endParaRPr lang="en-US" sz="830" dirty="0"/>
          </a:p>
        </p:txBody>
      </p:sp>
      <p:sp>
        <p:nvSpPr>
          <p:cNvPr id="7" name="Shape 3"/>
          <p:cNvSpPr/>
          <p:nvPr/>
        </p:nvSpPr>
        <p:spPr>
          <a:xfrm>
            <a:off x="685800" y="141732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012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8C7FA"/>
                </a:solidFill>
              </a:rPr>
              <a:t>Endpoints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960120" y="2423160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3272" y="252374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GET /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240280" y="2542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Informations du service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60120" y="3063240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33272" y="316382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GET /health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240280" y="31821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Statut + version modèle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60120" y="3703320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33272" y="380390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POST /predict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240280" y="3822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Score, niveau, date, version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6012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DAF4B"/>
                </a:solidFill>
              </a:rPr>
              <a:t>Les erreurs 422 sont utiles : elles empêchent les requêtes invalides d’arriver au modèle.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15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822628E-658C-E205-92BE-1D4CF9289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417320"/>
            <a:ext cx="6788972" cy="41049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utilisateur : Streamlit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Rendre la requête longue de 30 jours facile à utiliser</a:t>
            </a:r>
            <a:endParaRPr lang="en-US" sz="830" dirty="0"/>
          </a:p>
        </p:txBody>
      </p:sp>
      <p:sp>
        <p:nvSpPr>
          <p:cNvPr id="8" name="Shape 3"/>
          <p:cNvSpPr/>
          <p:nvPr/>
        </p:nvSpPr>
        <p:spPr>
          <a:xfrm>
            <a:off x="914400" y="5349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987552" y="5449824"/>
            <a:ext cx="1682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Mode automatique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site + date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2834640" y="5605272"/>
            <a:ext cx="594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6"/>
          <p:cNvSpPr/>
          <p:nvPr/>
        </p:nvSpPr>
        <p:spPr>
          <a:xfrm>
            <a:off x="3520440" y="53492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8C7FA"/>
          </a:solidFill>
          <a:ln w="12700">
            <a:solidFill>
              <a:srgbClr val="28C7F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593592" y="5449824"/>
            <a:ext cx="1453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API météo / cache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212080" y="5605272"/>
            <a:ext cx="594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5897880" y="53492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71032" y="5449824"/>
            <a:ext cx="1499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FastAPI /predict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635240" y="5605272"/>
            <a:ext cx="594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321040" y="534924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DDAF4B"/>
          </a:solidFill>
          <a:ln w="12700">
            <a:solidFill>
              <a:srgbClr val="DDAF4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394192" y="5449824"/>
            <a:ext cx="11795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Résultat clair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16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9E24DF-721A-8BC8-07FA-ED6864060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79" t="8117" r="6845" b="-1967"/>
          <a:stretch/>
        </p:blipFill>
        <p:spPr>
          <a:xfrm>
            <a:off x="134471" y="1575511"/>
            <a:ext cx="5897880" cy="31793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F79839-2B09-579E-E511-C9FBA8F503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50" t="13535" r="5809"/>
          <a:stretch/>
        </p:blipFill>
        <p:spPr>
          <a:xfrm>
            <a:off x="6096000" y="1609344"/>
            <a:ext cx="6009634" cy="29992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Déploiement : Docker Compose + Komodo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Application conteneurisée, reproductible et déployable sur l’infrastructure du module</a:t>
            </a:r>
            <a:endParaRPr lang="en-US" sz="830" dirty="0"/>
          </a:p>
        </p:txBody>
      </p:sp>
      <p:sp>
        <p:nvSpPr>
          <p:cNvPr id="7" name="Shape 3"/>
          <p:cNvSpPr/>
          <p:nvPr/>
        </p:nvSpPr>
        <p:spPr>
          <a:xfrm>
            <a:off x="685800" y="13716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012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C781"/>
                </a:solidFill>
              </a:rPr>
              <a:t>Services Compose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960120" y="2359152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3272" y="2459736"/>
            <a:ext cx="813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api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121408" y="24688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FastAPI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023360" y="246888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18000 → 8000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60120" y="3145536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28C7FA"/>
          </a:solidFill>
          <a:ln w="12700">
            <a:solidFill>
              <a:srgbClr val="28C7F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33272" y="3246120"/>
            <a:ext cx="813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ui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121408" y="32552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Streamlit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023360" y="325526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18501 → 8501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60120" y="393192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33272" y="4032504"/>
            <a:ext cx="813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mlflow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121408" y="40416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</a:rPr>
              <a:t>Tracking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023360" y="404164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15000 → 5000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6012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Komodo montre l’état des services, les logs et le déploiement de la stack sur `vh3`.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17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B3A19B-93E5-1705-CBBE-CC51CE0DEE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30" t="17363"/>
          <a:stretch/>
        </p:blipFill>
        <p:spPr>
          <a:xfrm>
            <a:off x="6080760" y="1883663"/>
            <a:ext cx="6045370" cy="31276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Collaboration et CI/CD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GitHub conserve le code, GitHub Actions vérifie le pipeline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685800" y="1694331"/>
            <a:ext cx="5394960" cy="1645920"/>
          </a:xfrm>
          <a:prstGeom prst="roundRect">
            <a:avLst>
              <a:gd name="adj" fmla="val 1667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8C7FA"/>
                </a:solidFill>
              </a:rPr>
              <a:t>Collaboration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2286000"/>
            <a:ext cx="4800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Dépôt GitHub accessible.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Branches et Pull Request pour la partie DataOps.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Commits logiques : ingestion, qualité, orchestration, documentation.
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55530" y="1635521"/>
            <a:ext cx="5257800" cy="3938730"/>
          </a:xfrm>
          <a:prstGeom prst="roundRect">
            <a:avLst>
              <a:gd name="adj" fmla="val 1667"/>
            </a:avLst>
          </a:prstGeom>
          <a:solidFill>
            <a:srgbClr val="0E1D2C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C781"/>
                </a:solidFill>
              </a:rPr>
              <a:t>CI/CD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720840" y="24231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93992" y="252374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push / PR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909560" y="265176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366760" y="242316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0C781"/>
          </a:solidFill>
          <a:ln w="12700">
            <a:solidFill>
              <a:srgbClr val="00C7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9912" y="252374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tests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418320" y="2651760"/>
            <a:ext cx="365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875520" y="242316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0050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48672" y="2523744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lint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789920" y="265176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1045952" y="242316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DDAF4B"/>
          </a:solidFill>
          <a:ln w="12700">
            <a:solidFill>
              <a:srgbClr val="DDAF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19104" y="252374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FAFC"/>
                </a:solidFill>
              </a:rPr>
              <a:t>build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720840" y="33832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Core CI : pytest + ruff. DataOps CI : tests offline, dbt/quality evidence, Dagster demo, sans appels NASA live.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20840" y="4572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C7FA"/>
                </a:solidFill>
              </a:rPr>
              <a:t>70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6720840" y="4992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core tests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2104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DAF4B"/>
                </a:solidFill>
              </a:rPr>
              <a:t>21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321040" y="4992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DataOps tests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0104120" y="4572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C781"/>
                </a:solidFill>
              </a:rPr>
              <a:t>35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10104120" y="4992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dbt tests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18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et observabilité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Surveiller les entrées, les prédictions et les limites du modèle</a:t>
            </a:r>
            <a:endParaRPr lang="en-US" sz="830" dirty="0"/>
          </a:p>
        </p:txBody>
      </p:sp>
      <p:pic>
        <p:nvPicPr>
          <p:cNvPr id="6" name="Image 1" descr="/mnt/data/a_wide_isometric_infographic_illustration_scene_of_batch_2.png"/>
          <p:cNvPicPr>
            <a:picLocks noChangeAspect="1"/>
          </p:cNvPicPr>
          <p:nvPr/>
        </p:nvPicPr>
        <p:blipFill>
          <a:blip r:embed="rId4"/>
          <a:srcRect t="39325" b="39325"/>
          <a:stretch/>
        </p:blipFill>
        <p:spPr>
          <a:xfrm>
            <a:off x="182880" y="4526280"/>
            <a:ext cx="11795760" cy="1417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4526280"/>
            <a:ext cx="11795760" cy="1417320"/>
          </a:xfrm>
          <a:prstGeom prst="rect">
            <a:avLst/>
          </a:prstGeom>
          <a:solidFill>
            <a:srgbClr val="0B1220">
              <a:alpha val="4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417320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C781"/>
                </a:solidFill>
              </a:rPr>
              <a:t>Historical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Données météo passées
</a:t>
            </a: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Proxy disponible
</a:t>
            </a: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Calcul MAE/RMSE/R²
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34840" y="1417320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8C7FA"/>
                </a:solidFill>
              </a:rPr>
              <a:t>Live / Simulé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Nouvelles requêtes
</a:t>
            </a: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Pas toujours de label
</a:t>
            </a: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Drift données/prédictions
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83880" y="1417320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248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50"/>
                </a:solidFill>
              </a:rPr>
              <a:t>Actions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41248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Journaliser les événements
</a:t>
            </a: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Comparer distributions
</a:t>
            </a:r>
            <a:r>
              <a:rPr lang="en-US" sz="1050" b="1" dirty="0">
                <a:solidFill>
                  <a:srgbClr val="00C781"/>
                </a:solidFill>
              </a:rPr>
              <a:t>• </a:t>
            </a:r>
            <a:r>
              <a:rPr lang="en-US" sz="1050" dirty="0">
                <a:solidFill>
                  <a:srgbClr val="CBD5E1"/>
                </a:solidFill>
              </a:rPr>
              <a:t>Déclencher analyse/retraining
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77240" y="4133088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DDAF4B"/>
                </a:solidFill>
              </a:rPr>
              <a:t>Sans vraies mesures terrain en production, le drift alerte sur un changement de contexte ; il ne prouve pas seul une baisse de performance.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19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Résultats, limites et perspectives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Une démonstration MLOps auditable, avec des limites scientifiques assumées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685800" y="141732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C781"/>
                </a:solidFill>
              </a:rPr>
              <a:t>Forces du projet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2359152"/>
            <a:ext cx="45720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Pipeline reproductible et automatisable.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Données vérifiées, manifestes, hash et lineage.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Tracking MLflow et version de production.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API, UI, Docker, Komodo et monitoring.
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171323"/>
          </a:solidFill>
          <a:ln w="12700">
            <a:solidFill>
              <a:srgbClr val="5A27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4E6D"/>
                </a:solidFill>
              </a:rPr>
              <a:t>Limites honnêtes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29400" y="2359152"/>
            <a:ext cx="4526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Stress hydrique = proxy modélisé, pas mesure terrain.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Blé et sites configurés uniquement.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Prévision J+1, pas prévision mensuelle/annuelle.
</a:t>
            </a:r>
            <a:r>
              <a:rPr lang="en-US" sz="1150" b="1" dirty="0">
                <a:solidFill>
                  <a:srgbClr val="00C781"/>
                </a:solidFill>
              </a:rPr>
              <a:t>• </a:t>
            </a:r>
            <a:r>
              <a:rPr lang="en-US" sz="1150" dirty="0">
                <a:solidFill>
                  <a:srgbClr val="CBD5E1"/>
                </a:solidFill>
              </a:rPr>
              <a:t>Validation terrain et calibration locale nécessaires.
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596188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8C7FA"/>
                </a:solidFill>
              </a:rPr>
              <a:t>Perspective : ajouter des mesures terrain, satellite GEE/NDVI, extension multi-cultures et retraining contrôlé.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20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680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Démonstration finale en 6 fenêtres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1208" y="11338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CBD5E1"/>
                </a:solidFill>
              </a:rPr>
              <a:t>Préparer avant le passage pour éviter toute perte de temps</a:t>
            </a:r>
            <a:endParaRPr lang="en-US" sz="830" dirty="0"/>
          </a:p>
        </p:txBody>
      </p:sp>
      <p:sp>
        <p:nvSpPr>
          <p:cNvPr id="6" name="Shape 3"/>
          <p:cNvSpPr/>
          <p:nvPr/>
        </p:nvSpPr>
        <p:spPr>
          <a:xfrm>
            <a:off x="731520" y="1508760"/>
            <a:ext cx="3246120" cy="1225296"/>
          </a:xfrm>
          <a:prstGeom prst="roundRect">
            <a:avLst>
              <a:gd name="adj" fmla="val 5970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91640"/>
            <a:ext cx="384048" cy="384048"/>
          </a:xfrm>
          <a:prstGeom prst="rect">
            <a:avLst/>
          </a:prstGeom>
          <a:solidFill>
            <a:srgbClr val="00C7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26464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GitHub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26464" y="2167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architecture + workflows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26280" y="1508760"/>
            <a:ext cx="3246120" cy="1225296"/>
          </a:xfrm>
          <a:prstGeom prst="roundRect">
            <a:avLst>
              <a:gd name="adj" fmla="val 5970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solidFill>
            <a:srgbClr val="00C7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21224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DataOps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21224" y="2167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DuckDB, dbt, Dagster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321040" y="1508760"/>
            <a:ext cx="3246120" cy="1225296"/>
          </a:xfrm>
          <a:prstGeom prst="roundRect">
            <a:avLst>
              <a:gd name="adj" fmla="val 5970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1691640"/>
            <a:ext cx="384048" cy="384048"/>
          </a:xfrm>
          <a:prstGeom prst="rect">
            <a:avLst/>
          </a:prstGeom>
          <a:solidFill>
            <a:srgbClr val="00C7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15984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MLflow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15984" y="2167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runs + registry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1520" y="3337560"/>
            <a:ext cx="3246120" cy="1225296"/>
          </a:xfrm>
          <a:prstGeom prst="roundRect">
            <a:avLst>
              <a:gd name="adj" fmla="val 5970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520440"/>
            <a:ext cx="384048" cy="384048"/>
          </a:xfrm>
          <a:prstGeom prst="rect">
            <a:avLst/>
          </a:prstGeom>
          <a:solidFill>
            <a:srgbClr val="00C7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26464" y="3557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Swagger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26464" y="3995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/health + /predict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26280" y="3337560"/>
            <a:ext cx="3246120" cy="1225296"/>
          </a:xfrm>
          <a:prstGeom prst="roundRect">
            <a:avLst>
              <a:gd name="adj" fmla="val 5970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520440"/>
            <a:ext cx="384048" cy="384048"/>
          </a:xfrm>
          <a:prstGeom prst="rect">
            <a:avLst/>
          </a:prstGeom>
          <a:solidFill>
            <a:srgbClr val="00C7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21224" y="3557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Streamlit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21224" y="3995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Automatic + Manual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321040" y="3337560"/>
            <a:ext cx="3246120" cy="1225296"/>
          </a:xfrm>
          <a:prstGeom prst="roundRect">
            <a:avLst>
              <a:gd name="adj" fmla="val 5970"/>
            </a:avLst>
          </a:prstGeom>
          <a:solidFill>
            <a:srgbClr val="0F1A2B"/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3520440"/>
            <a:ext cx="384048" cy="384048"/>
          </a:xfrm>
          <a:prstGeom prst="rect">
            <a:avLst/>
          </a:prstGeom>
          <a:solidFill>
            <a:srgbClr val="00C7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015984" y="3557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Komodo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15984" y="3995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services running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14400" y="5486400"/>
            <a:ext cx="10378440" cy="603504"/>
          </a:xfrm>
          <a:prstGeom prst="roundRect">
            <a:avLst>
              <a:gd name="adj" fmla="val 12121"/>
            </a:avLst>
          </a:prstGeom>
          <a:solidFill>
            <a:srgbClr val="102A2B"/>
          </a:solidFill>
          <a:ln w="12700">
            <a:solidFill>
              <a:srgbClr val="2D6B5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88720" y="5696712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8FAFC"/>
                </a:solidFill>
              </a:rPr>
              <a:t>« Notre livrable n’est pas seulement un modèle, mais un cycle de vie complet : données fiables, entraînement traçable, déploiement reproductible et monitoring. »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21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composite_scene_a_high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4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pic>
        <p:nvPicPr>
          <p:cNvPr id="4" name="Image 1" descr="/mnt/dat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1168"/>
            <a:ext cx="1554480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463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</a:rPr>
              <a:t>Questions ?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13232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81"/>
                </a:solidFill>
              </a:rPr>
              <a:t>Merci pour votre attention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31520" y="43434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B1220">
              <a:alpha val="88000"/>
            </a:srgbClr>
          </a:solidFill>
          <a:ln w="12700">
            <a:solidFill>
              <a:srgbClr val="2E40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0120" y="46817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</a:rPr>
              <a:t>Rappel : proxy modélisé · DataOps vérifiable · MLOps reproductible · Déploiement conteneurisé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6519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B8799"/>
                </a:solidFill>
              </a:rPr>
              <a:t>Soutenance MLOps &amp; DataOps · Stress hydrique · 22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243145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2149</Words>
  <Application>Microsoft Office PowerPoint</Application>
  <PresentationFormat>Widescreen</PresentationFormat>
  <Paragraphs>312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Faculté des Sciences Ben M’Sik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stress hydrique des cultures</dc:title>
  <dc:subject>Soutenance MLOps &amp; DataOps - Prédiction du stress hydrique des cultures</dc:subject>
  <dc:creator>OpenAI</dc:creator>
  <cp:lastModifiedBy>Oussama Jounaidi</cp:lastModifiedBy>
  <cp:revision>3</cp:revision>
  <dcterms:created xsi:type="dcterms:W3CDTF">2026-09-17T18:16:49Z</dcterms:created>
  <dcterms:modified xsi:type="dcterms:W3CDTF">2026-09-18T00:41:40Z</dcterms:modified>
</cp:coreProperties>
</file>